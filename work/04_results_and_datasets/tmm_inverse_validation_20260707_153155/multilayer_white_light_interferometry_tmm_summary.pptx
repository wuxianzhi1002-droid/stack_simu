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Max parameter MAE at σ_R=0.005</c:v>
          </c:tx>
          <c:spPr>
            <a:solidFill>
              <a:srgbClr val="A51C3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B1 TiO2</c:v>
              </c:pt>
              <c:pt idx="1">
                <c:v>B2 SOC+TiO2</c:v>
              </c:pt>
              <c:pt idx="2">
                <c:v>B3 all films</c:v>
              </c:pt>
            </c:strLit>
          </c:cat>
          <c:val>
            <c:numLit>
              <c:formatCode>0.000</c:formatCode>
              <c:ptCount val="3"/>
              <c:pt idx="0">
                <c:v>6.6E-3</c:v>
              </c:pt>
              <c:pt idx="1">
                <c:v>1.11E-2</c:v>
              </c:pt>
              <c:pt idx="2">
                <c:v>0.14319999999999999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54-4C42-A520-20305636654F}"/>
            </c:ext>
          </c:extLst>
        </c:ser>
        <c:dLbls>
          <c:showLegendKey val="1"/>
          <c:showVal val="0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11111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2E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MAE (nm)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关键是：对膜层的参数</a:t>
            </a:r>
            <a:r>
              <a:rPr lang="en-US" altLang="zh-CN" dirty="0" err="1"/>
              <a:t>n,k</a:t>
            </a:r>
            <a:r>
              <a:rPr lang="zh-CN" altLang="en-US"/>
              <a:t>准确度要求较高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98A76B8C-8AFF-4C68-9013-1C9993E3719E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981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多层膜白光反射测厚的核心是用 TMM 拟合整条谱形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15A1B9-360F-43E7-A1C6-24A7BB48893F}"/>
              </a:ext>
            </a:extLst>
          </p:cNvPr>
          <p:cNvSpPr>
            <a:spLocks noGrp="1"/>
          </p:cNvSpPr>
          <p:nvPr/>
        </p:nvSpPr>
        <p:spPr>
          <a:xfrm>
            <a:off x="10382250" y="4572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7A0019"/>
                </a:solidFill>
              </a:rPr>
              <a:t>模型原理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21C880-3AA1-4884-9D69-D4471B95B656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1277600" cy="38100"/>
          </a:xfrm>
          <a:prstGeom prst="rect">
            <a:avLst/>
          </a:prstGeom>
          <a:solidFill>
            <a:srgbClr val="7A0019"/>
          </a:solidFill>
          <a:ln w="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DB9B98-9A8A-4D8D-9349-58325256FE8D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3286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Air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AF53C8-D776-439B-B9A5-FFDBC403C9DB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3286125" cy="419100"/>
          </a:xfrm>
          <a:prstGeom prst="rect">
            <a:avLst/>
          </a:prstGeom>
          <a:solidFill>
            <a:srgbClr val="E7EEF8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HSQ 40 nm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841A63-8E0F-4B00-A708-BCC815ADA454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3286125" cy="285750"/>
          </a:xfrm>
          <a:prstGeom prst="rect">
            <a:avLst/>
          </a:prstGeom>
          <a:solidFill>
            <a:srgbClr val="F8E7EA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PSS 5 nm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096D25-C862-4B6C-BCF3-A87662A7081F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3286125" cy="495300"/>
          </a:xfrm>
          <a:prstGeom prst="rect">
            <a:avLst/>
          </a:prstGeom>
          <a:solidFill>
            <a:srgbClr val="E9F4EC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SOC 50 nm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102DE6-3BC7-4A60-A702-552C0B8A0ECE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3286125" cy="361950"/>
          </a:xfrm>
          <a:prstGeom prst="rect">
            <a:avLst/>
          </a:prstGeom>
          <a:solidFill>
            <a:srgbClr val="F7F0D8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TiO2 20 nm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E30BAF-553E-420F-BD2F-F46C1D4E74B6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3286125" cy="552450"/>
          </a:xfrm>
          <a:prstGeom prst="rect">
            <a:avLst/>
          </a:prstGeom>
          <a:solidFill>
            <a:srgbClr val="E8D0B5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Cu substrate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276631-F0E1-469D-9FBB-9FA19FE478FF}"/>
              </a:ext>
            </a:extLst>
          </p:cNvPr>
          <p:cNvSpPr>
            <a:spLocks noGrp="1"/>
          </p:cNvSpPr>
          <p:nvPr/>
        </p:nvSpPr>
        <p:spPr>
          <a:xfrm>
            <a:off x="571500" y="5086350"/>
            <a:ext cx="3286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film-only branch removes the 1 mm air cavity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9168C8-E212-4E82-A9A3-2EE760A7DE73}"/>
              </a:ext>
            </a:extLst>
          </p:cNvPr>
          <p:cNvSpPr>
            <a:spLocks noGrp="1"/>
          </p:cNvSpPr>
          <p:nvPr/>
        </p:nvSpPr>
        <p:spPr>
          <a:xfrm>
            <a:off x="4495800" y="15049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7A0019"/>
                </a:solidFill>
              </a:defRPr>
            </a:pPr>
            <a:r>
              <a:rPr sz="2100" b="1" dirty="0">
                <a:solidFill>
                  <a:srgbClr val="7A0019"/>
                </a:solidFill>
              </a:rPr>
              <a:t>TMM </a:t>
            </a:r>
            <a:r>
              <a:rPr sz="2100" b="1" dirty="0" err="1">
                <a:solidFill>
                  <a:srgbClr val="7A0019"/>
                </a:solidFill>
              </a:rPr>
              <a:t>正向模型</a:t>
            </a:r>
            <a:endParaRPr sz="2100" b="1" dirty="0">
              <a:solidFill>
                <a:srgbClr val="7A0019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0731D9-004B-4D06-B23B-E77516A36B9E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238500" cy="1543050"/>
          </a:xfrm>
          <a:prstGeom prst="rect">
            <a:avLst/>
          </a:prstGeom>
          <a:solidFill>
            <a:srgbClr val="F2F2F2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3FB38E-D604-44DB-9D33-EFE33C78DFA3}"/>
              </a:ext>
            </a:extLst>
          </p:cNvPr>
          <p:cNvSpPr>
            <a:spLocks noGrp="1"/>
          </p:cNvSpPr>
          <p:nvPr/>
        </p:nvSpPr>
        <p:spPr>
          <a:xfrm>
            <a:off x="4705350" y="2190750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5000"/>
              </a:lnSpc>
              <a:buNone/>
              <a:defRPr sz="1875" b="1">
                <a:solidFill>
                  <a:srgbClr val="111111"/>
                </a:solidFill>
              </a:defRPr>
            </a:pPr>
            <a:r>
              <a:rPr sz="1875" b="1" dirty="0">
                <a:solidFill>
                  <a:srgbClr val="111111"/>
                </a:solidFill>
              </a:rPr>
              <a:t>Y = (C + </a:t>
            </a:r>
            <a:r>
              <a:rPr sz="1875" b="1" dirty="0" err="1">
                <a:solidFill>
                  <a:srgbClr val="111111"/>
                </a:solidFill>
              </a:rPr>
              <a:t>Dq_s</a:t>
            </a:r>
            <a:r>
              <a:rPr sz="1875" b="1" dirty="0">
                <a:solidFill>
                  <a:srgbClr val="111111"/>
                </a:solidFill>
              </a:rPr>
              <a:t>) / (A + </a:t>
            </a:r>
            <a:r>
              <a:rPr sz="1875" b="1" dirty="0" err="1">
                <a:solidFill>
                  <a:srgbClr val="111111"/>
                </a:solidFill>
              </a:rPr>
              <a:t>Bq_s</a:t>
            </a:r>
            <a:r>
              <a:rPr sz="1875" b="1" dirty="0">
                <a:solidFill>
                  <a:srgbClr val="111111"/>
                </a:solidFill>
              </a:rPr>
              <a:t>)</a:t>
            </a:r>
          </a:p>
          <a:p>
            <a:pPr>
              <a:lnSpc>
                <a:spcPct val="125000"/>
              </a:lnSpc>
              <a:buNone/>
              <a:defRPr sz="1875" b="1">
                <a:solidFill>
                  <a:srgbClr val="111111"/>
                </a:solidFill>
              </a:defRPr>
            </a:pPr>
            <a:r>
              <a:rPr sz="1875" b="1" dirty="0">
                <a:solidFill>
                  <a:srgbClr val="111111"/>
                </a:solidFill>
              </a:rPr>
              <a:t>r(λ) = (q_0 − Y) / (q_0 + Y)</a:t>
            </a:r>
          </a:p>
          <a:p>
            <a:pPr>
              <a:lnSpc>
                <a:spcPct val="125000"/>
              </a:lnSpc>
              <a:buNone/>
              <a:defRPr sz="1875" b="1">
                <a:solidFill>
                  <a:srgbClr val="111111"/>
                </a:solidFill>
              </a:defRPr>
            </a:pPr>
            <a:r>
              <a:rPr sz="1875" b="1" dirty="0">
                <a:solidFill>
                  <a:srgbClr val="111111"/>
                </a:solidFill>
              </a:rPr>
              <a:t>R(λ; p) = |r(λ; p)|²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BB2214-80D0-44AF-9F85-403DCF97A8ED}"/>
              </a:ext>
            </a:extLst>
          </p:cNvPr>
          <p:cNvSpPr>
            <a:spLocks noGrp="1"/>
          </p:cNvSpPr>
          <p:nvPr/>
        </p:nvSpPr>
        <p:spPr>
          <a:xfrm>
            <a:off x="8172450" y="15049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7A0019"/>
                </a:solidFill>
              </a:defRPr>
            </a:pPr>
            <a:r>
              <a:rPr sz="2100" b="1">
                <a:solidFill>
                  <a:srgbClr val="7A0019"/>
                </a:solidFill>
              </a:rPr>
              <a:t>真实仪器观测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1FC37B-8F05-450D-91CC-898B027E27D4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3429000" cy="1543050"/>
          </a:xfrm>
          <a:prstGeom prst="rect">
            <a:avLst/>
          </a:prstGeom>
          <a:solidFill>
            <a:srgbClr val="F2F2F2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5778B4-1686-4404-9405-45D2FAD2A63A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30099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I_meas(λ) = S(λ)E(λ)R(λ;p) + I_dark(λ) + ε(λ)</a:t>
            </a:r>
          </a:p>
          <a:p>
            <a:endParaRPr sz="1500">
              <a:solidFill>
                <a:srgbClr val="111111"/>
              </a:solidFill>
            </a:endParaRPr>
          </a:p>
          <a:p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R̂(λ) = [(I_sample − I_dark) / (I_ref − I_dark)] R_ref(λ)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0E6F74-61B2-4B0C-87C1-E512DB493041}"/>
              </a:ext>
            </a:extLst>
          </p:cNvPr>
          <p:cNvSpPr>
            <a:spLocks noGrp="1"/>
          </p:cNvSpPr>
          <p:nvPr/>
        </p:nvSpPr>
        <p:spPr>
          <a:xfrm>
            <a:off x="4495800" y="38481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7A0019"/>
                </a:solidFill>
              </a:defRPr>
            </a:pPr>
            <a:r>
              <a:rPr sz="2100" b="1">
                <a:solidFill>
                  <a:srgbClr val="7A0019"/>
                </a:solidFill>
              </a:rPr>
              <a:t>反演目标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023345-8421-4379-A3CF-A21D1EDBBFBA}"/>
              </a:ext>
            </a:extLst>
          </p:cNvPr>
          <p:cNvSpPr>
            <a:spLocks noGrp="1"/>
          </p:cNvSpPr>
          <p:nvPr/>
        </p:nvSpPr>
        <p:spPr>
          <a:xfrm>
            <a:off x="4495800" y="4305300"/>
            <a:ext cx="710565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A41D12-C3C2-4913-BB08-BD6782BC7017}"/>
              </a:ext>
            </a:extLst>
          </p:cNvPr>
          <p:cNvSpPr>
            <a:spLocks noGrp="1"/>
          </p:cNvSpPr>
          <p:nvPr/>
        </p:nvSpPr>
        <p:spPr>
          <a:xfrm>
            <a:off x="4762500" y="4610100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min_{p,a,b}  Σ_i [ R̂_i − a·R_TMM(λ_i; p) − b ]²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FFF261-9561-4BFD-A12D-71FA63DD3033}"/>
              </a:ext>
            </a:extLst>
          </p:cNvPr>
          <p:cNvSpPr>
            <a:spLocks noGrp="1"/>
          </p:cNvSpPr>
          <p:nvPr/>
        </p:nvSpPr>
        <p:spPr>
          <a:xfrm>
            <a:off x="4810125" y="51244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p 是待反演膜厚；a 和 b 吸收光源谱、探测器响应与绝对强度标定残差。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072A63-DDDF-4539-84C8-ECF00EF54998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来源：wiki/03_Methods/multilayer_white_light_interferometry_theory.md；膜层参数来自 main_cavity.py</a:t>
            </a:r>
          </a:p>
        </p:txBody>
      </p:sp>
    </p:spTree>
    <p:extLst>
      <p:ext uri="{BB962C8B-B14F-4D97-AF65-F5344CB8AC3E}">
        <p14:creationId xmlns:p14="http://schemas.microsoft.com/office/powerpoint/2010/main" val="127167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F2065B4-B260-41A6-BD72-7214BE367181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去掉 1 mm 空气腔后，膜厚反演在理想 TMM 验证中可稳定收敛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6E5898-3B19-424A-9724-0CD39FA8E35A}"/>
              </a:ext>
            </a:extLst>
          </p:cNvPr>
          <p:cNvSpPr>
            <a:spLocks noGrp="1"/>
          </p:cNvSpPr>
          <p:nvPr/>
        </p:nvSpPr>
        <p:spPr>
          <a:xfrm>
            <a:off x="10382250" y="4572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7A0019"/>
                </a:solidFill>
              </a:rPr>
              <a:t>仿真结果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DC3D5-1F09-4365-89C1-63D3B70FB31B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1277600" cy="38100"/>
          </a:xfrm>
          <a:prstGeom prst="rect">
            <a:avLst/>
          </a:prstGeom>
          <a:solidFill>
            <a:srgbClr val="7A0019"/>
          </a:solidFill>
          <a:ln w="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551B4A-C0E9-41FB-A97F-32120832707B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7A0019"/>
                </a:solidFill>
              </a:defRPr>
            </a:pPr>
            <a:r>
              <a:rPr sz="2100" b="1">
                <a:solidFill>
                  <a:srgbClr val="7A0019"/>
                </a:solidFill>
              </a:rPr>
              <a:t>film-only 反演验证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BD0AA8-1E22-4261-8F9F-A9218E873B9D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4381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5000"/>
              </a:lnSpc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合成光谱：Air / HSQ / PSS / SOC / TiO2 / Cu</a:t>
            </a:r>
          </a:p>
          <a:p>
            <a:pPr>
              <a:lnSpc>
                <a:spcPct val="125000"/>
              </a:lnSpc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噪声：加性反射率高斯噪声 σ_R = 0.005</a:t>
            </a:r>
          </a:p>
          <a:p>
            <a:pPr>
              <a:lnSpc>
                <a:spcPct val="125000"/>
              </a:lnSpc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拟合：least_squares + 强度尺度/偏置校正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685073-3DCF-4281-B80C-AF747B18A826}"/>
              </a:ext>
            </a:extLst>
          </p:cNvPr>
          <p:cNvSpPr>
            <a:spLocks noGrp="1"/>
          </p:cNvSpPr>
          <p:nvPr/>
        </p:nvSpPr>
        <p:spPr>
          <a:xfrm>
            <a:off x="590550" y="3124200"/>
            <a:ext cx="2247900" cy="1200150"/>
          </a:xfrm>
          <a:prstGeom prst="rect">
            <a:avLst/>
          </a:prstGeom>
          <a:solidFill>
            <a:srgbClr val="F8F8F8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97FB87-D7A1-457F-8BCE-67F56FEAFAC1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A0019"/>
                </a:solidFill>
              </a:defRPr>
            </a:pPr>
            <a:r>
              <a:rPr sz="1275" b="1">
                <a:solidFill>
                  <a:srgbClr val="7A0019"/>
                </a:solidFill>
              </a:rPr>
              <a:t>B1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46AED6-E48F-417E-BEAB-F46E25027738}"/>
              </a:ext>
            </a:extLst>
          </p:cNvPr>
          <p:cNvSpPr>
            <a:spLocks noGrp="1"/>
          </p:cNvSpPr>
          <p:nvPr/>
        </p:nvSpPr>
        <p:spPr>
          <a:xfrm>
            <a:off x="781050" y="3609975"/>
            <a:ext cx="1866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TiO2 only</a:t>
            </a:r>
          </a:p>
          <a:p>
            <a:pPr>
              <a:lnSpc>
                <a:spcPct val="112000"/>
              </a:lnSpc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MAE 0.0066 nm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0AE35B-DF40-48D4-82B9-AB5FB16F19FD}"/>
              </a:ext>
            </a:extLst>
          </p:cNvPr>
          <p:cNvSpPr>
            <a:spLocks noGrp="1"/>
          </p:cNvSpPr>
          <p:nvPr/>
        </p:nvSpPr>
        <p:spPr>
          <a:xfrm>
            <a:off x="590550" y="4495800"/>
            <a:ext cx="2247900" cy="1200150"/>
          </a:xfrm>
          <a:prstGeom prst="rect">
            <a:avLst/>
          </a:prstGeom>
          <a:solidFill>
            <a:srgbClr val="F8F8F8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C448A5-0650-4B75-B2EE-EE4D2114E5EA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A0019"/>
                </a:solidFill>
              </a:defRPr>
            </a:pPr>
            <a:r>
              <a:rPr sz="1275" b="1">
                <a:solidFill>
                  <a:srgbClr val="7A0019"/>
                </a:solidFill>
              </a:rPr>
              <a:t>B2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667CFD-A2E3-4686-82B5-32B88B3704E0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866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SOC + TiO2</a:t>
            </a:r>
          </a:p>
          <a:p>
            <a:pPr>
              <a:lnSpc>
                <a:spcPct val="10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max MAE</a:t>
            </a:r>
          </a:p>
          <a:p>
            <a:pPr>
              <a:lnSpc>
                <a:spcPct val="10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0.011 nm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86926B-C887-4277-8171-1BC409A5925B}"/>
              </a:ext>
            </a:extLst>
          </p:cNvPr>
          <p:cNvSpPr>
            <a:spLocks noGrp="1"/>
          </p:cNvSpPr>
          <p:nvPr/>
        </p:nvSpPr>
        <p:spPr>
          <a:xfrm>
            <a:off x="3048000" y="3124200"/>
            <a:ext cx="2343150" cy="2571750"/>
          </a:xfrm>
          <a:prstGeom prst="rect">
            <a:avLst/>
          </a:prstGeom>
          <a:solidFill>
            <a:srgbClr val="F8F8F8"/>
          </a:solidFill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E38F4E-5926-4269-BF4E-25609202C74C}"/>
              </a:ext>
            </a:extLst>
          </p:cNvPr>
          <p:cNvSpPr>
            <a:spLocks noGrp="1"/>
          </p:cNvSpPr>
          <p:nvPr/>
        </p:nvSpPr>
        <p:spPr>
          <a:xfrm>
            <a:off x="3238500" y="32956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A0019"/>
                </a:solidFill>
              </a:defRPr>
            </a:pPr>
            <a:r>
              <a:rPr sz="1275" b="1">
                <a:solidFill>
                  <a:srgbClr val="7A0019"/>
                </a:solidFill>
              </a:rPr>
              <a:t>B3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EDD18F-EC4C-400D-9BC6-BC6C06E25338}"/>
              </a:ext>
            </a:extLst>
          </p:cNvPr>
          <p:cNvSpPr>
            <a:spLocks noGrp="1"/>
          </p:cNvSpPr>
          <p:nvPr/>
        </p:nvSpPr>
        <p:spPr>
          <a:xfrm>
            <a:off x="3238500" y="3600450"/>
            <a:ext cx="1885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Four films</a:t>
            </a:r>
          </a:p>
          <a:p>
            <a:pPr>
              <a:lnSpc>
                <a:spcPct val="11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max MAE</a:t>
            </a:r>
          </a:p>
          <a:p>
            <a:pPr>
              <a:lnSpc>
                <a:spcPct val="11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0.143 nm</a:t>
            </a:r>
          </a:p>
          <a:p>
            <a:pPr>
              <a:lnSpc>
                <a:spcPct val="11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cond. no. 18.8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6C47B9-DA0D-40B3-A307-C591DAF37FD7}"/>
              </a:ext>
            </a:extLst>
          </p:cNvPr>
          <p:cNvSpPr>
            <a:spLocks noGrp="1"/>
          </p:cNvSpPr>
          <p:nvPr/>
        </p:nvSpPr>
        <p:spPr>
          <a:xfrm>
            <a:off x="3238500" y="49530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四层同时拟合仍需扩大 Monte Carlo 并检查相关矩阵。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="5953125" y="1638300"/>
          <a:ext cx="5286375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CAA5966F-2431-4ED6-83A7-EE2EC96D0262}"/>
              </a:ext>
            </a:extLst>
          </p:cNvPr>
          <p:cNvSpPr>
            <a:spLocks noGrp="1"/>
          </p:cNvSpPr>
          <p:nvPr/>
        </p:nvSpPr>
        <p:spPr>
          <a:xfrm>
            <a:off x="6762750" y="4429125"/>
            <a:ext cx="904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0.0066 nm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AFCD3D-F325-42AF-A18E-1F4FEF48ED49}"/>
              </a:ext>
            </a:extLst>
          </p:cNvPr>
          <p:cNvSpPr>
            <a:spLocks noGrp="1"/>
          </p:cNvSpPr>
          <p:nvPr/>
        </p:nvSpPr>
        <p:spPr>
          <a:xfrm>
            <a:off x="8305800" y="4314825"/>
            <a:ext cx="904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0.011 nm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9AC065-58D8-43A8-B7DF-125E7DE85908}"/>
              </a:ext>
            </a:extLst>
          </p:cNvPr>
          <p:cNvSpPr>
            <a:spLocks noGrp="1"/>
          </p:cNvSpPr>
          <p:nvPr/>
        </p:nvSpPr>
        <p:spPr>
          <a:xfrm>
            <a:off x="9906000" y="1971675"/>
            <a:ext cx="904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0.143 nm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C5052C-21C2-4EC2-9E3B-34E304A9F07D}"/>
              </a:ext>
            </a:extLst>
          </p:cNvPr>
          <p:cNvSpPr>
            <a:spLocks noGrp="1"/>
          </p:cNvSpPr>
          <p:nvPr/>
        </p:nvSpPr>
        <p:spPr>
          <a:xfrm>
            <a:off x="5953125" y="5067300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结论：在当前简化材料库和理想归一化假设下，膜层反演比 1 mm 空气腔解调更符合测厚目标。下一步应把样本数、噪声模型和参考谱标定误差纳入正式验证。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14084-78F6-49C0-B028-47645C65B85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数据：work/04_results_and_datasets/tmm_inverse_validation_20260707_153155/metrics_summary.csv</a:t>
            </a:r>
          </a:p>
        </p:txBody>
      </p:sp>
    </p:spTree>
    <p:extLst>
      <p:ext uri="{BB962C8B-B14F-4D97-AF65-F5344CB8AC3E}">
        <p14:creationId xmlns:p14="http://schemas.microsoft.com/office/powerpoint/2010/main" val="7834929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DocSecurity>0</DocSecurity>
  <PresentationFormat>宽屏</PresentationFormat>
  <Paragraphs>47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wuxianzhi</cp:lastModifiedBy>
  <cp:revision>1</cp:revision>
  <dcterms:created xsi:type="dcterms:W3CDTF">2026-07-07T08:43:48Z</dcterms:created>
  <dcterms:modified xsi:type="dcterms:W3CDTF">2026-07-07T08:51:49Z</dcterms:modified>
</cp:coreProperties>
</file>