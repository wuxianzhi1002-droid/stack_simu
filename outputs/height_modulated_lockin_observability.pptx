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9e346033dd44d1" /><Relationship Type="http://schemas.openxmlformats.org/officeDocument/2006/relationships/extended-properties" Target="/docProps/app.xml" Id="R3c6280a54b73434d" /><Relationship Type="http://schemas.openxmlformats.org/officeDocument/2006/relationships/officeDocument" Target="/ppt/presentation.xml" Id="R03ebc0d6f139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cc32624a54899"/>
  </p:sldMasterIdLst>
  <p:notesMasterIdLst>
    <p:notesMasterId xmlns:r="http://schemas.openxmlformats.org/officeDocument/2006/relationships" r:id="R0ed95adaace24990"/>
  </p:notesMasterIdLst>
  <p:sldIdLst>
    <p:sldId xmlns:r="http://schemas.openxmlformats.org/officeDocument/2006/relationships" id="256" r:id="Rf0b51400843b47ad"/>
    <p:sldId xmlns:r="http://schemas.openxmlformats.org/officeDocument/2006/relationships" id="257" r:id="R8e14b5d0e5e540f6"/>
    <p:sldId xmlns:r="http://schemas.openxmlformats.org/officeDocument/2006/relationships" id="258" r:id="Rb96f2dd41933432f"/>
    <p:sldId xmlns:r="http://schemas.openxmlformats.org/officeDocument/2006/relationships" id="259" r:id="Rd780c0db195b4b2c"/>
    <p:sldId xmlns:r="http://schemas.openxmlformats.org/officeDocument/2006/relationships" id="260" r:id="Rad2de272f1c04f01"/>
    <p:sldId xmlns:r="http://schemas.openxmlformats.org/officeDocument/2006/relationships" id="261" r:id="Rbac16d26476548ad"/>
    <p:sldId xmlns:r="http://schemas.openxmlformats.org/officeDocument/2006/relationships" id="262" r:id="R75a379308c804ee3"/>
    <p:sldId xmlns:r="http://schemas.openxmlformats.org/officeDocument/2006/relationships" id="263" r:id="Rb1018fa8b1ac4169"/>
    <p:sldId xmlns:r="http://schemas.openxmlformats.org/officeDocument/2006/relationships" id="264" r:id="R97bf541ad4654f33"/>
    <p:sldId xmlns:r="http://schemas.openxmlformats.org/officeDocument/2006/relationships" id="265" r:id="R6fa70e42b4a84e2c"/>
    <p:sldId xmlns:r="http://schemas.openxmlformats.org/officeDocument/2006/relationships" id="266" r:id="R21aeac6dcdde453e"/>
    <p:sldId xmlns:r="http://schemas.openxmlformats.org/officeDocument/2006/relationships" id="267" r:id="Ra62ac97c4e98451f"/>
    <p:sldId xmlns:r="http://schemas.openxmlformats.org/officeDocument/2006/relationships" id="268" r:id="Rd6cb29067e714b6d"/>
    <p:sldId xmlns:r="http://schemas.openxmlformats.org/officeDocument/2006/relationships" id="269" r:id="R633aa04961134bdf"/>
    <p:sldId xmlns:r="http://schemas.openxmlformats.org/officeDocument/2006/relationships" id="270" r:id="R41af343f5f894ffc"/>
    <p:sldId xmlns:r="http://schemas.openxmlformats.org/officeDocument/2006/relationships" id="271" r:id="R6271a6732fd44f6c"/>
    <p:sldId xmlns:r="http://schemas.openxmlformats.org/officeDocument/2006/relationships" id="272" r:id="R6e7551bd50804b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33c71154d74f20" /><Relationship Type="http://schemas.openxmlformats.org/officeDocument/2006/relationships/slideMaster" Target="/ppt/slideMasters/slideMaster1.xml" Id="R775cc32624a54899" /><Relationship Type="http://schemas.openxmlformats.org/officeDocument/2006/relationships/notesMaster" Target="/ppt/notesMasters/notesMaster1.xml" Id="R0ed95adaace24990" /><Relationship Type="http://schemas.openxmlformats.org/officeDocument/2006/relationships/presProps" Target="/ppt/presProps.xml" Id="R009a848608994664" /><Relationship Type="http://schemas.openxmlformats.org/officeDocument/2006/relationships/tableStyles" Target="/ppt/tableStyles.xml" Id="R313efaf080434795" /><Relationship Type="http://schemas.openxmlformats.org/officeDocument/2006/relationships/slide" Target="/ppt/slides/slide1.xml" Id="Rf0b51400843b47ad" /><Relationship Type="http://schemas.openxmlformats.org/officeDocument/2006/relationships/slide" Target="/ppt/slides/slide2.xml" Id="R8e14b5d0e5e540f6" /><Relationship Type="http://schemas.openxmlformats.org/officeDocument/2006/relationships/slide" Target="/ppt/slides/slide3.xml" Id="Rb96f2dd41933432f" /><Relationship Type="http://schemas.openxmlformats.org/officeDocument/2006/relationships/slide" Target="/ppt/slides/slide4.xml" Id="Rd780c0db195b4b2c" /><Relationship Type="http://schemas.openxmlformats.org/officeDocument/2006/relationships/slide" Target="/ppt/slides/slide5.xml" Id="Rad2de272f1c04f01" /><Relationship Type="http://schemas.openxmlformats.org/officeDocument/2006/relationships/slide" Target="/ppt/slides/slide6.xml" Id="Rbac16d26476548ad" /><Relationship Type="http://schemas.openxmlformats.org/officeDocument/2006/relationships/slide" Target="/ppt/slides/slide7.xml" Id="R75a379308c804ee3" /><Relationship Type="http://schemas.openxmlformats.org/officeDocument/2006/relationships/slide" Target="/ppt/slides/slide8.xml" Id="Rb1018fa8b1ac4169" /><Relationship Type="http://schemas.openxmlformats.org/officeDocument/2006/relationships/slide" Target="/ppt/slides/slide9.xml" Id="R97bf541ad4654f33" /><Relationship Type="http://schemas.openxmlformats.org/officeDocument/2006/relationships/slide" Target="/ppt/slides/slide10.xml" Id="R6fa70e42b4a84e2c" /><Relationship Type="http://schemas.openxmlformats.org/officeDocument/2006/relationships/slide" Target="/ppt/slides/slide11.xml" Id="R21aeac6dcdde453e" /><Relationship Type="http://schemas.openxmlformats.org/officeDocument/2006/relationships/slide" Target="/ppt/slides/slide12.xml" Id="Ra62ac97c4e98451f" /><Relationship Type="http://schemas.openxmlformats.org/officeDocument/2006/relationships/slide" Target="/ppt/slides/slide13.xml" Id="Rd6cb29067e714b6d" /><Relationship Type="http://schemas.openxmlformats.org/officeDocument/2006/relationships/slide" Target="/ppt/slides/slide14.xml" Id="R633aa04961134bdf" /><Relationship Type="http://schemas.openxmlformats.org/officeDocument/2006/relationships/slide" Target="/ppt/slides/slide15.xml" Id="R41af343f5f894ffc" /><Relationship Type="http://schemas.openxmlformats.org/officeDocument/2006/relationships/slide" Target="/ppt/slides/slide16.xml" Id="R6271a6732fd44f6c" /><Relationship Type="http://schemas.openxmlformats.org/officeDocument/2006/relationships/slide" Target="/ppt/slides/slide17.xml" Id="R6e7551bd50804b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c46afa9fd644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d9e6e986fd4208" /><Relationship Type="http://schemas.openxmlformats.org/officeDocument/2006/relationships/notesMaster" Target="/ppt/notesMasters/notesMaster1.xml" Id="R146c006714fa49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99ca9df6f04857" /><Relationship Type="http://schemas.openxmlformats.org/officeDocument/2006/relationships/notesMaster" Target="/ppt/notesMasters/notesMaster1.xml" Id="R02ac5482329a4e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82c4b6e3a74c91" /><Relationship Type="http://schemas.openxmlformats.org/officeDocument/2006/relationships/notesMaster" Target="/ppt/notesMasters/notesMaster1.xml" Id="R4b1ac93953ec45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7b13aa41f84de1" /><Relationship Type="http://schemas.openxmlformats.org/officeDocument/2006/relationships/notesMaster" Target="/ppt/notesMasters/notesMaster1.xml" Id="Re6aad3e5753c49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330976d6e243de" /><Relationship Type="http://schemas.openxmlformats.org/officeDocument/2006/relationships/notesMaster" Target="/ppt/notesMasters/notesMaster1.xml" Id="Rfe235a81c2ac47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f22f7b90d04290" /><Relationship Type="http://schemas.openxmlformats.org/officeDocument/2006/relationships/notesMaster" Target="/ppt/notesMasters/notesMaster1.xml" Id="Rea594f2ed65443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3c2680708d4676" /><Relationship Type="http://schemas.openxmlformats.org/officeDocument/2006/relationships/notesMaster" Target="/ppt/notesMasters/notesMaster1.xml" Id="R1ae74fabbb5140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09c439d6db41bb" /><Relationship Type="http://schemas.openxmlformats.org/officeDocument/2006/relationships/notesMaster" Target="/ppt/notesMasters/notesMaster1.xml" Id="R0274e044b8cf44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92797f8848482b" /><Relationship Type="http://schemas.openxmlformats.org/officeDocument/2006/relationships/notesMaster" Target="/ppt/notesMasters/notesMaster1.xml" Id="Rf7a33c9a184e47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c80a150e7f444d" /><Relationship Type="http://schemas.openxmlformats.org/officeDocument/2006/relationships/notesMaster" Target="/ppt/notesMasters/notesMaster1.xml" Id="R33fe44e4913e41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c58930dee04535" /><Relationship Type="http://schemas.openxmlformats.org/officeDocument/2006/relationships/notesMaster" Target="/ppt/notesMasters/notesMaster1.xml" Id="Rbf0e2ca5da7a42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73b297ec1d4a94" /><Relationship Type="http://schemas.openxmlformats.org/officeDocument/2006/relationships/notesMaster" Target="/ppt/notesMasters/notesMaster1.xml" Id="Rffdb2fdf6cdc4f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f2789df31f4a26" /><Relationship Type="http://schemas.openxmlformats.org/officeDocument/2006/relationships/notesMaster" Target="/ppt/notesMasters/notesMaster1.xml" Id="R78990c80097e45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a97702b4a34e83" /><Relationship Type="http://schemas.openxmlformats.org/officeDocument/2006/relationships/notesMaster" Target="/ppt/notesMasters/notesMaster1.xml" Id="R2c89872ec18941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541271e29f423b" /><Relationship Type="http://schemas.openxmlformats.org/officeDocument/2006/relationships/notesMaster" Target="/ppt/notesMasters/notesMaster1.xml" Id="R0668e4c325ab46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069076d2ef4fa4" /><Relationship Type="http://schemas.openxmlformats.org/officeDocument/2006/relationships/notesMaster" Target="/ppt/notesMasters/notesMaster1.xml" Id="Rc145d285732141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2aa84a5f92419e" /><Relationship Type="http://schemas.openxmlformats.org/officeDocument/2006/relationships/notesMaster" Target="/ppt/notesMasters/notesMaster1.xml" Id="R87332edd4bc046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7d57fa9b6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63d4e829b34821" /><Relationship Type="http://schemas.openxmlformats.org/officeDocument/2006/relationships/slideLayout" Target="/ppt/slideLayouts/slideLayout1.xml" Id="R9f606703624942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606703624942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11e9ca29b4270" /><Relationship Type="http://schemas.openxmlformats.org/officeDocument/2006/relationships/image" Target="/ppt/media/image.png" Id="R91ceefafcbd647d5" /><Relationship Type="http://schemas.openxmlformats.org/officeDocument/2006/relationships/notesSlide" Target="/ppt/notesSlides/notesSlide1.xml" Id="Rcb8f9a8d3c69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7ee744394427b" /><Relationship Type="http://schemas.openxmlformats.org/officeDocument/2006/relationships/image" Target="/ppt/media/image2.png" Id="Rb20d63771bd14d55" /><Relationship Type="http://schemas.openxmlformats.org/officeDocument/2006/relationships/notesSlide" Target="/ppt/notesSlides/notesSlide2.xml" Id="Re66df5616f0a44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9f93d3ad640cf" /><Relationship Type="http://schemas.openxmlformats.org/officeDocument/2006/relationships/image" Target="/ppt/media/image3.png" Id="Rbe2938a2de5f49fa" /><Relationship Type="http://schemas.openxmlformats.org/officeDocument/2006/relationships/notesSlide" Target="/ppt/notesSlides/notesSlide3.xml" Id="Rb6581e1c809e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6f050404249f6" /><Relationship Type="http://schemas.openxmlformats.org/officeDocument/2006/relationships/image" Target="/ppt/media/image4.png" Id="R4f6f2d4660804d4e" /><Relationship Type="http://schemas.openxmlformats.org/officeDocument/2006/relationships/notesSlide" Target="/ppt/notesSlides/notesSlide4.xml" Id="Rf3c0ebc82a0047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4cbc88c6a4b85" /><Relationship Type="http://schemas.openxmlformats.org/officeDocument/2006/relationships/image" Target="/ppt/media/image5.png" Id="R2b0dd0651a7b42e7" /><Relationship Type="http://schemas.openxmlformats.org/officeDocument/2006/relationships/notesSlide" Target="/ppt/notesSlides/notesSlide5.xml" Id="R5132d1747bc74c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e83826d52418b" /><Relationship Type="http://schemas.openxmlformats.org/officeDocument/2006/relationships/image" Target="/ppt/media/image6.png" Id="Re404f73b3b6d407a" /><Relationship Type="http://schemas.openxmlformats.org/officeDocument/2006/relationships/notesSlide" Target="/ppt/notesSlides/notesSlide6.xml" Id="R1124c7f35e9a4c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857a7709a4d2d" /><Relationship Type="http://schemas.openxmlformats.org/officeDocument/2006/relationships/image" Target="/ppt/media/image7.png" Id="R4534c59566014454" /><Relationship Type="http://schemas.openxmlformats.org/officeDocument/2006/relationships/notesSlide" Target="/ppt/notesSlides/notesSlide7.xml" Id="R7c767ecdcd0245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ce3d617da42bf" /><Relationship Type="http://schemas.openxmlformats.org/officeDocument/2006/relationships/image" Target="/ppt/media/image8.png" Id="R6b0412dab99a4c04" /><Relationship Type="http://schemas.openxmlformats.org/officeDocument/2006/relationships/notesSlide" Target="/ppt/notesSlides/notesSlide8.xml" Id="R710170ec1e3b4a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c9f025e954707" /><Relationship Type="http://schemas.openxmlformats.org/officeDocument/2006/relationships/image" Target="/ppt/media/image9.png" Id="R87c65b7c2b0a41f7" /><Relationship Type="http://schemas.openxmlformats.org/officeDocument/2006/relationships/notesSlide" Target="/ppt/notesSlides/notesSlide9.xml" Id="R4b9b379ec2b84e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f864b88ab4bf3" /><Relationship Type="http://schemas.openxmlformats.org/officeDocument/2006/relationships/image" Target="/ppt/media/image10.png" Id="R7c5f8c7d7d784a29" /><Relationship Type="http://schemas.openxmlformats.org/officeDocument/2006/relationships/notesSlide" Target="/ppt/notesSlides/notesSlide10.xml" Id="R377b628c576c48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5275c7dff4930" /><Relationship Type="http://schemas.openxmlformats.org/officeDocument/2006/relationships/image" Target="/ppt/media/image11.png" Id="R3bad279b750249e7" /><Relationship Type="http://schemas.openxmlformats.org/officeDocument/2006/relationships/notesSlide" Target="/ppt/notesSlides/notesSlide11.xml" Id="R766f27d8df8549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a565b36104787" /><Relationship Type="http://schemas.openxmlformats.org/officeDocument/2006/relationships/image" Target="/ppt/media/image12.png" Id="R24df90323e9b4b3e" /><Relationship Type="http://schemas.openxmlformats.org/officeDocument/2006/relationships/notesSlide" Target="/ppt/notesSlides/notesSlide12.xml" Id="Reca5a962d8c641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d9582738e474e" /><Relationship Type="http://schemas.openxmlformats.org/officeDocument/2006/relationships/image" Target="/ppt/media/image13.png" Id="Re86df41ae7a04644" /><Relationship Type="http://schemas.openxmlformats.org/officeDocument/2006/relationships/notesSlide" Target="/ppt/notesSlides/notesSlide13.xml" Id="Rd9e5be8d481443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aafc146be4d4c" /><Relationship Type="http://schemas.openxmlformats.org/officeDocument/2006/relationships/image" Target="/ppt/media/image14.png" Id="R52e7dd2af45d4d74" /><Relationship Type="http://schemas.openxmlformats.org/officeDocument/2006/relationships/notesSlide" Target="/ppt/notesSlides/notesSlide14.xml" Id="R25e7660123ca44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797e1402e44be" /><Relationship Type="http://schemas.openxmlformats.org/officeDocument/2006/relationships/image" Target="/ppt/media/image15.png" Id="Rc21225313dfa453c" /><Relationship Type="http://schemas.openxmlformats.org/officeDocument/2006/relationships/notesSlide" Target="/ppt/notesSlides/notesSlide15.xml" Id="R8d2a53ca01a84e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a2f269a834ca5" /><Relationship Type="http://schemas.openxmlformats.org/officeDocument/2006/relationships/image" Target="/ppt/media/image16.png" Id="R31b9e87079c14e79" /><Relationship Type="http://schemas.openxmlformats.org/officeDocument/2006/relationships/notesSlide" Target="/ppt/notesSlides/notesSlide16.xml" Id="R6e93b39b33b34d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ab1e3ed044270" /><Relationship Type="http://schemas.openxmlformats.org/officeDocument/2006/relationships/image" Target="/ppt/media/image17.png" Id="Rfa946460036e4592" /><Relationship Type="http://schemas.openxmlformats.org/officeDocument/2006/relationships/notesSlide" Target="/ppt/notesSlides/notesSlide17.xml" Id="R653754aa32a143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eefafcbd647d5"/>
          <a:stretch xmlns:a="http://schemas.openxmlformats.org/drawingml/2006/main"/>
        </p:blipFill>
        <p:spPr>
          <a:xfrm xmlns:a="http://schemas.openxmlformats.org/drawingml/2006/main">
            <a:off x="9486900" y="3238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1623B-32A1-48BF-99D4-932AF9CA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007A"/>
                </a:solidFill>
              </a:defRPr>
            </a:pPr>
            <a:r>
              <a:rPr sz="135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68915-D1D5-4923-86E8-7C187C9F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795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8611D-F8BB-41AE-833D-83B3870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F007A"/>
                </a:solidFill>
              </a:defRPr>
            </a:pPr>
            <a:r>
              <a:rPr sz="2550" b="1">
                <a:solidFill>
                  <a:srgbClr val="6F007A"/>
                </a:solidFill>
              </a:rPr>
              <a:t>高度调制锁相增强多层膜反演可观测性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8394F-9029-41A6-8674-7FFCB6E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007A"/>
                </a:solidFill>
              </a:defRPr>
            </a:pPr>
            <a:r>
              <a:rPr sz="1350" b="0">
                <a:solidFill>
                  <a:srgbClr val="6F007A"/>
                </a:solidFill>
              </a:rPr>
              <a:t>Method Summary | 2026-07-08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53B82-32F1-45C5-8BF3-CED2317F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STACK_simu wiki / Signal 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C91C4-4410-465D-8369-8D459EE8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4085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0893C-3B8F-461C-ACDD-20F35CAC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EB30F-445F-4081-9281-10060D17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d63771bd14d55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2C857-0FB2-44ED-AA67-8F44BC9C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ADD20-86F1-4B3F-A09C-293F3C5E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25A5C-130C-456D-B31E-25FB0B32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3C2F7-8052-4E60-B26D-4ACE00B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E203C-C663-48F4-BE08-623B181D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74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C97C0-2D3E-412E-BBB5-2C0696B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2626"/>
                </a:solidFill>
              </a:defRPr>
            </a:pPr>
            <a:r>
              <a:rPr sz="1650" b="1">
                <a:solidFill>
                  <a:srgbClr val="262626"/>
                </a:solidFill>
              </a:rPr>
              <a:t>必要修正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8FFDA-858E-4376-B878-4FEAA16D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845D4-72C3-4F5E-A2C4-FBF2E7DD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62200"/>
            <a:ext cx="74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E27F5-AC70-4A21-83AF-C577CE11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2626"/>
                </a:solidFill>
              </a:defRPr>
            </a:pPr>
            <a:r>
              <a:rPr sz="1650" b="1">
                <a:solidFill>
                  <a:srgbClr val="262626"/>
                </a:solidFill>
              </a:rPr>
              <a:t>信号模型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74D95-56D0-4CC5-9970-C00C63E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617C1-1334-43ED-9C9F-4337CA5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74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229E9-DE70-4B95-896F-003C2DDD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386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2626"/>
                </a:solidFill>
              </a:defRPr>
            </a:pPr>
            <a:r>
              <a:rPr sz="1650" b="1">
                <a:solidFill>
                  <a:srgbClr val="262626"/>
                </a:solidFill>
              </a:rPr>
              <a:t>反演流程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618BE-9164-40CF-AE74-42676F7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B2867-1AA7-44E0-9574-4D0833FC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74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06B62-ACAF-4681-BDA7-73BA8ECA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386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2626"/>
                </a:solidFill>
              </a:defRPr>
            </a:pPr>
            <a:r>
              <a:rPr sz="1650" b="1">
                <a:solidFill>
                  <a:srgbClr val="262626"/>
                </a:solidFill>
              </a:rPr>
              <a:t>验证指标</a:t>
            </a:r>
          </a:p>
        </p:txBody>
      </p:sp>
    </p:spTree>
    <p:extLst>
      <p:ext uri="{BB962C8B-B14F-4D97-AF65-F5344CB8AC3E}">
        <p14:creationId xmlns:p14="http://schemas.microsoft.com/office/powerpoint/2010/main" val="1667007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DBA1CD-E3FC-40FC-9405-525EAAA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938a2de5f49fa"/>
          <a:stretch xmlns:a="http://schemas.openxmlformats.org/drawingml/2006/main"/>
        </p:blipFill>
        <p:spPr>
          <a:xfrm xmlns:a="http://schemas.openxmlformats.org/drawingml/2006/main">
            <a:off x="10525125" y="2667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5D2C2-943C-491D-9381-162BB724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0BF10-0F5B-4142-AFC5-46D8B565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62125" y="857250"/>
            <a:ext cx="40005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419100">
            <a:solidFill>
              <a:srgbClr val="6F00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89335-9D93-4187-A3E4-297E9BC4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81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6F007A"/>
                </a:solidFill>
              </a:defRPr>
            </a:pPr>
            <a:r>
              <a:rPr sz="3900" b="0">
                <a:solidFill>
                  <a:srgbClr val="6F007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F18D9-16ED-437C-93EB-D780DA20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62626"/>
                </a:solidFill>
              </a:defRPr>
            </a:pPr>
            <a:r>
              <a:rPr sz="2550" b="0">
                <a:solidFill>
                  <a:srgbClr val="262626"/>
                </a:solidFill>
              </a:rPr>
              <a:t>必要修正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1B84B-C7B1-4FFE-A3E7-BBF29D9C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适用场景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B8E00-E635-4CAE-BAB7-E5066104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3620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6A356-037A-4A25-B573-7CE638A8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7A693-9C87-4CC1-898C-B79B2B39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f2d4660804d4e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8B34B-FEE7-405B-AEC5-EDC7E3BC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A68DA-331E-4F2B-8FB3-876779BB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E8B80-7AE7-4616-ADC6-077E7D25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一句话结论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A82E5-AD52-4E53-9840-F2521956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高度调制锁相增强多层膜反演可观测性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47208-D83F-431C-A080-97E4319C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007A"/>
                </a:solidFill>
              </a:defRPr>
            </a:pPr>
            <a:r>
              <a:rPr sz="1800" b="1">
                <a:solidFill>
                  <a:srgbClr val="6F007A"/>
                </a:solidFill>
              </a:rPr>
              <a:t>在普通宽谱反射/干涉观测 I(lambda) 之外，同步调制样品顶面高度 z(t)=z0+A sin(omega t) 并锁相提取 dI/dz，可以把单一光谱观测扩展为 (I(lambda), dI/dz(lambda)) 的联合观测；对 HSQ/SOC/Hard Mask/Si 这类多层膜反演，它的研究价值在于增加对顶面高度、膜厚和材料参数的局部敏感度约束，而不是单纯提高光谱分辨率。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11CE2-57BE-45F1-9F8B-EC7E3705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F007A"/>
                </a:solidFill>
              </a:defRPr>
            </a:pPr>
            <a:r>
              <a:rPr sz="1725" b="1">
                <a:solidFill>
                  <a:srgbClr val="6F007A"/>
                </a:solidFill>
              </a:rPr>
              <a:t>适用场景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2A5E4-077C-49D7-9409-6E56F269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9715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本方法面向当前研究中的多层薄膜反演问题：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样品结构：空气 / HSQ / SOC / Hard Mask / Si，或其仿真替代材料栈。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待反演参数：顶面高度 z_surface、膜厚 d_HSQ、d_SOC、d_HM，以及必要时的材料折射率/消光系数参数。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正向模型：优先使用 TMM/StackRT 或经 Lumerical/FDTD 校准过的等效 forward model，而不是只用单一余弦玩具模型。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观测数据：普通光谱 I(lambda) 和高度调制后的锁相信号 S_lockin(lambda)。</a:t>
            </a:r>
          </a:p>
        </p:txBody>
      </p:sp>
    </p:spTree>
    <p:extLst>
      <p:ext uri="{BB962C8B-B14F-4D97-AF65-F5344CB8AC3E}">
        <p14:creationId xmlns:p14="http://schemas.microsoft.com/office/powerpoint/2010/main" val="671487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CDF86-038D-4187-8547-DF9EE2AB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FC08C-5AE7-4989-87D0-E402CB29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dd0651a7b42e7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F77D7-8CEC-469C-A576-814CA62A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F0ACB-8F13-4B65-9AD3-22B2B041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BBA0B-AE0D-476A-8E69-81D4713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必要修正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C4D32-F417-417F-982E-F069338B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toy model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1BAA6-0521-464D-9E47-D50BD0C5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I(\lambda)=0.5+0.4\cos\left(\frac{4\pi(n d+z)}{\lambda}</a:t>
            </a:r>
          </a:p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ight)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I(\lambda)=F(\lambda; z_{surface}, d_{HSQ}, d_{SOC}, d_{HM}, n_i(\lambda), k_i(\lambda), c_{sys})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0662C-EEC7-4E1F-A3E1-BA504C30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用户给出的抽象模型：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适合说明锁相提取导数的数学流程，但不适合作为证明 z 和 d 可同时唯一反演的物理模型。原因是该模型只依赖组合量 n d+z，所以 z 和 d 在这个简化模型中天然耦合；即使额外加入 dI/dz，导数仍然只依赖同一个相位组合量，不能真正打破退化。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在真实研究中，需要把 forward model 改成更接近测量系统的形式：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其中 z_surface 应通过参考臂、外部空气腔或白光干涉测量几何进入相位；膜厚则通过各层内部相位、界面 Fresnel 系数和吸收项进入 TMM。只有当 z 和各层 d_i 对光谱的 Jacobian 方向不完全共线时，联合观测才会提高可观测性。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C00E7-5B4D-49A5-9677-A0C38DA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007A"/>
                </a:solidFill>
              </a:defRPr>
            </a:pPr>
            <a:r>
              <a:rPr sz="1500" b="1">
                <a:solidFill>
                  <a:srgbClr val="6F007A"/>
                </a:solidFill>
              </a:rPr>
              <a:t>Key: if the model only depends on nd+z, dI/dz still cannot separate z and d.</a:t>
            </a:r>
          </a:p>
        </p:txBody>
      </p:sp>
    </p:spTree>
    <p:extLst>
      <p:ext uri="{BB962C8B-B14F-4D97-AF65-F5344CB8AC3E}">
        <p14:creationId xmlns:p14="http://schemas.microsoft.com/office/powerpoint/2010/main" val="1947321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92B5F-16F9-408D-8D33-CFF313DF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976A9-8C96-445F-80E8-5832751F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4f73b3b6d407a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6FECC-1357-4E28-B65F-C137620C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93BE7-9A82-47DA-A228-57C77252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BD816-AABA-43D8-9713-22FE1A9D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Forward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32605-8C43-4E30-B7AC-71420B93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必要修正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D03EF-05D3-4350-A9A9-070A0421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0C4D8-B001-44EA-9C85-4CB05858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9715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其中 z_surface 应通过参考臂、外部空气腔或白光干涉测量几何进入相位；膜厚则通过各层内部相位、界面 Fresnel 系数和吸收项进入 TMM。只有当 z 和各层 d_i 对光谱的 Jacobian 方向不完全共线时，联合观测才会提高可观测性。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50014-C19C-48A0-8A92-5A5954F7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007A"/>
                </a:solidFill>
              </a:defRPr>
            </a:pPr>
            <a:r>
              <a:rPr sz="1500" b="1">
                <a:solidFill>
                  <a:srgbClr val="6F007A"/>
                </a:solidFill>
              </a:rPr>
              <a:t>Observability requires non-collinear Jacobian directions for z_surface and layer thicknesses.</a:t>
            </a:r>
          </a:p>
        </p:txBody>
      </p:sp>
    </p:spTree>
    <p:extLst>
      <p:ext uri="{BB962C8B-B14F-4D97-AF65-F5344CB8AC3E}">
        <p14:creationId xmlns:p14="http://schemas.microsoft.com/office/powerpoint/2010/main" val="1841351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E8199-C5E3-4289-B607-3D054CB8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4c59566014454"/>
          <a:stretch xmlns:a="http://schemas.openxmlformats.org/drawingml/2006/main"/>
        </p:blipFill>
        <p:spPr>
          <a:xfrm xmlns:a="http://schemas.openxmlformats.org/drawingml/2006/main">
            <a:off x="10525125" y="2667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5356D-DA7A-44A7-9CC3-B4E3AD77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0DBCA-7B10-492D-9E84-1FD8CB91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62125" y="857250"/>
            <a:ext cx="40005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419100">
            <a:solidFill>
              <a:srgbClr val="6F00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4A618-ED26-42E5-B831-2BF20E68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81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6F007A"/>
                </a:solidFill>
              </a:defRPr>
            </a:pPr>
            <a:r>
              <a:rPr sz="3900" b="0">
                <a:solidFill>
                  <a:srgbClr val="6F007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94DEB-BE06-4D58-9FCA-90C0B965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62626"/>
                </a:solidFill>
              </a:defRPr>
            </a:pPr>
            <a:r>
              <a:rPr sz="2550" b="0">
                <a:solidFill>
                  <a:srgbClr val="262626"/>
                </a:solidFill>
              </a:rPr>
              <a:t>信号模型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BA873-FF02-4D18-A719-7EE47AA8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Lock-in derivative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F531D-DA2A-46EE-89E5-7E7EB9A0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32460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3546F5-1729-407A-A7B1-E58847E4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64588-089B-4945-952F-F3FFEF1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412dab99a4c04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CCE95-E0BB-4D86-BBAE-BF97D04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9A142-1E52-49B8-9DD1-22096558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3A618-4215-4603-8CBD-16AC136B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信号模型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12686-C011-4282-855F-DF0EFFB2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small-amplitude expansion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96A44-DFB1-4E57-83CE-27B16DCD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z(t)=z_0+A\sin(\omega 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I(\lambda,t) \approx I(\lambda,z_0)+A\frac{\partial I}{\partial z}(\lambda,z_0)\sin(\omega 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S(\lambda)=\frac{1}{N}\sum_t I(\lambda,t)r(t)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5FD10-331B-4F42-BC15-DD156AC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高度调制为：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当 A 足够小，且系统在一个调制周期内近似线性时：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用同频参考 r(t)=sin(omega t) 做数字锁相：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若参考信号与调制同相、采样覆盖整数周期，则：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因此：</a:t>
            </a:r>
          </a:p>
        </p:txBody>
      </p:sp>
    </p:spTree>
    <p:extLst>
      <p:ext uri="{BB962C8B-B14F-4D97-AF65-F5344CB8AC3E}">
        <p14:creationId xmlns:p14="http://schemas.microsoft.com/office/powerpoint/2010/main" val="1396795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F0122-49E2-467D-96BC-1333141B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D1DC9-E5CE-43D4-9BF3-283C4933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65b7c2b0a41f7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75F1B-C7F6-4A56-A708-73990A96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DB40F-9776-457D-B689-A333438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2BAF5-F996-4CB8-A4EC-EFC2A98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信号模型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DE660-478B-4268-941C-49917494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digital lock-in and quadrature channels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E3D83-59CB-48B9-ACFF-91B89B11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287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1F"/>
                </a:solidFill>
              </a:defRPr>
            </a:pPr>
            <a:r>
              <a:rPr sz="1500" b="0">
                <a:solidFill>
                  <a:srgbClr val="1F1F1F"/>
                </a:solidFill>
              </a:rPr>
              <a:t>S(\lambda) \approx \frac{A}{2}\frac{\partial I}{\partial z}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F1F1F"/>
                </a:solidFill>
              </a:defRPr>
            </a:pPr>
            <a:r>
              <a:rPr sz="1500" b="0">
                <a:solidFill>
                  <a:srgbClr val="1F1F1F"/>
                </a:solidFill>
              </a:rPr>
              <a:t>\frac{\partial I}{\partial z}(\lambda) \approx \frac{2}{A}S(\lambda)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F1F1F"/>
                </a:solidFill>
              </a:defRPr>
            </a:pPr>
            <a:r>
              <a:rPr sz="1500" b="0">
                <a:solidFill>
                  <a:srgbClr val="1F1F1F"/>
                </a:solidFill>
              </a:rPr>
              <a:t>X=\langle I(t)\sin\omega t</a:t>
            </a:r>
          </a:p>
          <a:p xmlns:a="http://schemas.openxmlformats.org/drawingml/2006/main">
            <a:pPr algn="l">
              <a:defRPr sz="1500" b="0">
                <a:solidFill>
                  <a:srgbClr val="1F1F1F"/>
                </a:solidFill>
              </a:defRPr>
            </a:pPr>
            <a:r>
              <a:rPr sz="1500" b="0">
                <a:solidFill>
                  <a:srgbClr val="1F1F1F"/>
                </a:solidFill>
              </a:rPr>
              <a:t>angle,\quad Y=\langle I(t)\cos\omega t</a:t>
            </a:r>
          </a:p>
          <a:p xmlns:a="http://schemas.openxmlformats.org/drawingml/2006/main">
            <a:pPr algn="l">
              <a:defRPr sz="1500" b="0">
                <a:solidFill>
                  <a:srgbClr val="1F1F1F"/>
                </a:solidFill>
              </a:defRPr>
            </a:pPr>
            <a:r>
              <a:rPr sz="1500" b="0">
                <a:solidFill>
                  <a:srgbClr val="1F1F1F"/>
                </a:solidFill>
              </a:rPr>
              <a:t>angle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EF596-0381-474C-9A95-DD9C0176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高度调制为：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当 A 足够小，且系统在一个调制周期内近似线性时：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用同频参考 r(t)=sin(omega t) 做数字锁相：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若参考信号与调制同相、采样覆盖整数周期，则：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因此：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工程实现时建议同时计算正交通道：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</a:defRPr>
            </a:pPr>
            <a:r>
              <a:rPr sz="1425" b="0">
                <a:solidFill>
                  <a:srgbClr val="262626"/>
                </a:solidFill>
              </a:rPr>
              <a:t>这样可以检查相位延迟、触发不同步和机械响应滞后；如果存在相位差，需要用 sqrt(X^2+Y^2) 或相位校正后的 X，不能直接把单一 sin 通道当作绝对导数。</a:t>
            </a:r>
          </a:p>
        </p:txBody>
      </p:sp>
    </p:spTree>
    <p:extLst>
      <p:ext uri="{BB962C8B-B14F-4D97-AF65-F5344CB8AC3E}">
        <p14:creationId xmlns:p14="http://schemas.microsoft.com/office/powerpoint/2010/main" val="1809957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E3C05E-C53B-4DE5-BEA1-173252D1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709AD-33F6-459D-B36E-99169C04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f8c7d7d784a29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3EA5F-C665-4F07-87BF-42A745D9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D1EC1-27EE-4E83-B74B-0B3A59B5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8B864-8E6A-41FA-8B24-E9B0064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实验参数口径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A6F43-C585-43A1-AED1-C98B090F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calibration 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CF011-D56E-4BC2-A781-283202DB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9906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调制幅值 A：应小于光谱相位非线性显著变化的尺度，先从 5-20 nm 扫描；过大会引入二阶项，过小会被噪声吞没。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调制频率 fm：应低于光谱采集 Nyquist 频率，并避开机械共振、环境振动和电源干扰频率。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采样时间：覆盖整数个调制周期，减少锁相泄漏。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光谱预处理：暗场扣除、白板/参考归一化、坏点掩膜、波长标定必须在锁相前后保持一致。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差分步长 dz_nm：数值求导时需做步长收敛测试，例如 0.01, 0.05, 0.1 nm。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8C9FF-743C-487C-A19B-8339B34F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007A"/>
                </a:solidFill>
              </a:defRPr>
            </a:pPr>
            <a:r>
              <a:rPr sz="1500" b="1">
                <a:solidFill>
                  <a:srgbClr val="6F007A"/>
                </a:solidFill>
              </a:rPr>
              <a:t>Calibration target: same amplitude, phase, sampling window, and normalization convention.</a:t>
            </a:r>
          </a:p>
        </p:txBody>
      </p:sp>
    </p:spTree>
    <p:extLst>
      <p:ext uri="{BB962C8B-B14F-4D97-AF65-F5344CB8AC3E}">
        <p14:creationId xmlns:p14="http://schemas.microsoft.com/office/powerpoint/2010/main" val="1458168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ADCBBC-42EE-4A86-A418-940F14B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d279b750249e7"/>
          <a:stretch xmlns:a="http://schemas.openxmlformats.org/drawingml/2006/main"/>
        </p:blipFill>
        <p:spPr>
          <a:xfrm xmlns:a="http://schemas.openxmlformats.org/drawingml/2006/main">
            <a:off x="10525125" y="2667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DCD71-B199-4B14-B845-32CAE63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C8646-518A-44B3-812B-775F81BE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62125" y="857250"/>
            <a:ext cx="40005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419100">
            <a:solidFill>
              <a:srgbClr val="6F00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42A05-A402-4F45-84E5-56B0E770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81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6F007A"/>
                </a:solidFill>
              </a:defRPr>
            </a:pPr>
            <a:r>
              <a:rPr sz="3900" b="0">
                <a:solidFill>
                  <a:srgbClr val="6F007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4DE15-555E-43E4-BB1F-8C8060B5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62626"/>
                </a:solidFill>
              </a:defRPr>
            </a:pPr>
            <a:r>
              <a:rPr sz="2550" b="0">
                <a:solidFill>
                  <a:srgbClr val="262626"/>
                </a:solidFill>
              </a:rPr>
              <a:t>反演流程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35440-B6D6-4817-8B72-82ECECE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Joint inversion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8BEC2-693F-419D-BAF5-4E75E51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35767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8FC5A-64D6-4DFF-9921-08F16415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BC2FA-5946-4614-965C-A1469B1F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f90323e9b4b3e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D951B-7FDC-4FDB-8710-F300BF4A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83DB2-D0DA-4A07-8500-73CE41BD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ECF25-1C19-4E16-AAB6-C741390C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反演流程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EC817-E224-462D-9F3A-2B80229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same forward model for I and dI/dz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7FD01-C9A7-41D5-AADF-5B87630E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990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采集或仿真普通光谱：I_meas(lambda)。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对顶面高度施加小幅正弦调制，采集时间序列：I(lambda,t)。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对每个波长点做数字锁相，得到 S_lockin(lambda)。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用标定后的调制幅值 A 把锁相信号换算成 dIdz_meas(lambda)。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用同一个 forward model 计算：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- I_model(lambda; theta)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- dIdz_model(lambda; theta)，可用中心差分、自动微分或解析导数。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联合拟合参数 theta=[z_surface,d_HSQ,d_SOC,d_HM,n_i...]。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4C9A6-B559-4766-8B09-7D28F290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residual = concat((I_model-I_meas)/sigma_I, (dIdz_model-dIdz_meas)/sigma_dz)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DDA67-4292-4492-815C-914E3D2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007A"/>
                </a:solidFill>
              </a:defRPr>
            </a:pPr>
            <a:r>
              <a:rPr sz="1500" b="1">
                <a:solidFill>
                  <a:srgbClr val="6F007A"/>
                </a:solidFill>
              </a:rPr>
              <a:t>sigma_I and sigma_dz must be calibrated; otherwise one channel dominates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9843766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D9A98-D615-45D3-9093-1E66C20D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1F6D8-03C6-408C-824C-8E8DC5D3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f41ae7a04644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2A53A-BE4B-47B8-8E5F-327697F3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4E5F8-3430-499B-9DB2-ED8A8F93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E3B6A-AC12-45AE-AD21-A475FCB3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代码骨架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AB59C-6699-4ABD-BA29-F9E0E493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implementation skeleton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2BF4-9FE4-4AE4-9854-6DC0F960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from scipy.optimize import least_squares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def forward_tmm(wavelength_nm, params):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def lockin_demodulate(I_time, t, fm_hz, amplitude_nm):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dIdz_x = 2 * x / amplitude_nm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dIdz_y = 2 * y / amplitude_nm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return dIdz_x, dIdz_y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def numerical_dIdz(wavelength_nm, params, dz_nm=0.05):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return (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    forward_tmm(wavelength_nm, p_plus)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    - forward_tmm(wavelength_nm, p_minus)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def residual_vector(x, wavelength_nm, I_meas, dIdz_meas, sigma_I, sigma_dz):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I_model = forward_tmm(wavelength_nm, params)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dIdz_model = numerical_dIdz(wavelength_nm, params)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return np.concatenate([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    (I_model - I_meas) / sigma_I,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        (dIdz_model - dIdz_meas) / sigma_dz,</a:t>
            </a:r>
          </a:p>
          <a:p xmlns:a="http://schemas.openxmlformats.org/drawingml/2006/main">
            <a:pPr algn="l">
              <a:defRPr sz="1200" b="0">
                <a:solidFill>
                  <a:srgbClr val="1F1F1F"/>
                </a:solidFill>
              </a:defRPr>
            </a:pPr>
            <a:r>
              <a:rPr sz="1200" b="0">
                <a:solidFill>
                  <a:srgbClr val="1F1F1F"/>
                </a:solidFill>
              </a:rPr>
              <a:t>result = least_squares(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204D0-6996-4ACA-BFB1-2D683141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007A"/>
                </a:solidFill>
              </a:defRPr>
            </a:pPr>
            <a:r>
              <a:rPr sz="1425" b="1">
                <a:solidFill>
                  <a:srgbClr val="6F007A"/>
                </a:solidFill>
              </a:rPr>
              <a:t>注意：sigma_I 和 sigma_dz 必须按实验噪声或仿真噪声标定。否则两个 residual 的量纲和幅值不同，优化器可能只拟合其中一个观测量。</a:t>
            </a:r>
          </a:p>
        </p:txBody>
      </p:sp>
    </p:spTree>
    <p:extLst>
      <p:ext uri="{BB962C8B-B14F-4D97-AF65-F5344CB8AC3E}">
        <p14:creationId xmlns:p14="http://schemas.microsoft.com/office/powerpoint/2010/main" val="374529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D93E8-0E59-4050-89D7-76DAB30D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6C096-26F2-4212-8F4B-E994EB2F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7dd2af45d4d74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F87FF-C7F4-41FB-B629-DDBF7391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DB87E-A6D8-4AC2-9995-9D5C5F59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8CF2F-0464-4EE6-B561-2CA786C4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与当前 HSQ/SOC/Hard Mask/Si 研究的对接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90FAF-0A5B-496F-9B5F-9670C095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low-dimensional material 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A4CB5-332F-4436-976F-221DDFE4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params = {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    "z_surface": z_nm,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    "d_HSQ": d_hsq_nm,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    "d_SOC": d_soc_nm,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    "d_HM": d_hm_nm,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    "mat_HSQ": compact_material_params_hsq,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    "mat_SOC": compact_material_params_soc,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    "mat_HM": compact_material_params_hm,</a:t>
            </a:r>
          </a:p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F0DE3-B5CB-43E9-871D-52E25EE8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推荐的第一版参数化：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材料参数不建议直接把每个波长点的 n(lambda)、k(lambda) 都作为自由参数。更稳妥的做法是：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第一阶段：固定材料库，只反演 z_surface 和膜厚。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第二阶段：给每种材料增加少量低维参数，例如 n_offset、n_slope、k_scale。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第三阶段：把材料参数的先验范围写入 bounds 或 Bayesian prior，避免把光谱噪声解释成材料色散。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EB9D3-D70B-4CC4-AC9C-3063C990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007A"/>
                </a:solidFill>
              </a:defRPr>
            </a:pPr>
            <a:r>
              <a:rPr sz="1500" b="1">
                <a:solidFill>
                  <a:srgbClr val="6F007A"/>
                </a:solidFill>
              </a:rPr>
              <a:t>Do not use every n(lambda), k(lambda) point as a free parameter in the first version.</a:t>
            </a:r>
          </a:p>
        </p:txBody>
      </p:sp>
    </p:spTree>
    <p:extLst>
      <p:ext uri="{BB962C8B-B14F-4D97-AF65-F5344CB8AC3E}">
        <p14:creationId xmlns:p14="http://schemas.microsoft.com/office/powerpoint/2010/main" val="3524318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DEB48-F3AC-43E0-9DCE-AC5F60CD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225313dfa453c"/>
          <a:stretch xmlns:a="http://schemas.openxmlformats.org/drawingml/2006/main"/>
        </p:blipFill>
        <p:spPr>
          <a:xfrm xmlns:a="http://schemas.openxmlformats.org/drawingml/2006/main">
            <a:off x="10525125" y="2667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B2D58-6A83-4029-BC68-DF749284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00D3-D70D-4D43-BD19-038854C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62125" y="857250"/>
            <a:ext cx="4000500" cy="4953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419100">
            <a:solidFill>
              <a:srgbClr val="6F00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2BB6B-6A42-4201-A8CB-81A615EB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81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6F007A"/>
                </a:solidFill>
              </a:defRPr>
            </a:pPr>
            <a:r>
              <a:rPr sz="3900" b="0">
                <a:solidFill>
                  <a:srgbClr val="6F007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A2807-CE45-4A8B-8A29-5B6FCD0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62626"/>
                </a:solidFill>
              </a:defRPr>
            </a:pPr>
            <a:r>
              <a:rPr sz="2550" b="0">
                <a:solidFill>
                  <a:srgbClr val="262626"/>
                </a:solidFill>
              </a:rPr>
              <a:t>验证指标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1732A-6599-4126-9955-7D38F24D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Validation metrics and risks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6D3BA-4625-43F5-98A8-8F6211B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043479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886CF-0BEC-40F9-843C-FF143B70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B7D55-3A81-4610-9106-C73176AB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9e87079c14e79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B3D20-70C0-4648-A0F3-BDED30B2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B98CC-71D2-4EEE-B6DF-DEC0221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86219-E63C-4A38-B9FD-5B410F6E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验证指标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305A6-F671-44C0-8C01-42D4DC1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controlled comparisons and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5D58D-6DC1-49CF-A97B-971EC4C6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| 对照 | 输入 | 目标 |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|---|---|---|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| baseline | `I(lambda)` | 复现现有光谱反演性能 |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| lockin only | `dI/dz(lambda)` | 检查导数通道本身携带的信息 |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| joint | `I(lambda)+dI/dz(lambda)` | 目标方法 |</a:t>
            </a:r>
          </a:p>
          <a:p xmlns:a="http://schemas.openxmlformats.org/drawingml/2006/main">
            <a:pPr algn="l">
              <a:defRPr sz="1275" b="0">
                <a:solidFill>
                  <a:srgbClr val="1F1F1F"/>
                </a:solidFill>
              </a:defRPr>
            </a:pPr>
            <a:r>
              <a:rPr sz="1275" b="0">
                <a:solidFill>
                  <a:srgbClr val="1F1F1F"/>
                </a:solidFill>
              </a:rPr>
              <a:t>| joint + prior | `I(lambda)+dI/dz(lambda)+工艺先验` | 当前研究最可能落地的方案 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2381A-FE31-4CF1-B794-945E4603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为了证明“调制增强可观测性”确实有效，建议至少做四组对照：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| 对照 | 输入 | 目标 |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|---|---|---|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| baseline | I(lambda) | 复现现有光谱反演性能 |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| lockin only | dI/dz(lambda) | 检查导数通道本身携带的信息 |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| joint | I(lambda)+dI/dz(lambda) | 目标方法 |</a:t>
            </a:r>
          </a:p>
          <a:p xmlns:a="http://schemas.openxmlformats.org/drawingml/2006/main">
            <a:pPr algn="l">
              <a:defRPr sz="1575" b="0">
                <a:solidFill>
                  <a:srgbClr val="262626"/>
                </a:solidFill>
              </a:defRPr>
            </a:pPr>
            <a:r>
              <a:rPr sz="1575" b="0">
                <a:solidFill>
                  <a:srgbClr val="262626"/>
                </a:solidFill>
              </a:rPr>
              <a:t>| joint + prior | I(lambda)+dI/dz(lambda)+工艺先验 | 当前研究最可能落地的方案 |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259AE-1624-4EF2-859F-8558598D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007A"/>
                </a:solidFill>
              </a:defRPr>
            </a:pPr>
            <a:r>
              <a:rPr sz="1500" b="1">
                <a:solidFill>
                  <a:srgbClr val="6F007A"/>
                </a:solidFill>
              </a:rPr>
              <a:t>If MAE improves but Fisher/Jacobian conditioning and parameter correlation do not, observability has not been proven.</a:t>
            </a:r>
          </a:p>
        </p:txBody>
      </p:sp>
    </p:spTree>
    <p:extLst>
      <p:ext uri="{BB962C8B-B14F-4D97-AF65-F5344CB8AC3E}">
        <p14:creationId xmlns:p14="http://schemas.microsoft.com/office/powerpoint/2010/main" val="18064066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4F4AD5-6E70-432C-8284-2FE29EDF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007A"/>
          </a:solidFill>
          <a:ln xmlns:a="http://schemas.openxmlformats.org/drawingml/2006/main" w="9525">
            <a:solidFill>
              <a:srgbClr val="6F00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1AC9D-178C-4946-B411-05857D59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AA5"/>
          </a:solidFill>
          <a:ln xmlns:a="http://schemas.openxmlformats.org/drawingml/2006/main" w="9525">
            <a:solidFill>
              <a:srgbClr val="9B4AA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46460036e4592"/>
          <a:stretch xmlns:a="http://schemas.openxmlformats.org/drawingml/2006/main"/>
        </p:blipFill>
        <p:spPr>
          <a:xfrm xmlns:a="http://schemas.openxmlformats.org/drawingml/2006/main">
            <a:off x="10572750" y="2667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25431-177E-49E0-9F5B-E5D0074B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007A"/>
                </a:solidFill>
              </a:defRPr>
            </a:pPr>
            <a:r>
              <a:rPr sz="900" b="1">
                <a:solidFill>
                  <a:srgbClr val="6F007A"/>
                </a:solidFill>
              </a:rPr>
              <a:t>Tsinghua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37398-A326-4412-899C-16F6CA4A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185F6-2645-4ED2-AF29-68F25501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F007A"/>
                </a:solidFill>
              </a:defRPr>
            </a:pPr>
            <a:r>
              <a:rPr sz="2100" b="1">
                <a:solidFill>
                  <a:srgbClr val="6F007A"/>
                </a:solidFill>
              </a:rPr>
              <a:t>已知风险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3319B-0D64-4D8D-805F-73D96D4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下一步实现建议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0C0E6-2B69-4B2D-8726-0B3C3AD7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如果测量系统只是普通反射率，没有参考臂或外部相位参考，整体样品高度平移不会改变强度反射率；此时 z_surface 不会自然出现在 I(lambda) 中。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单余弦 toy model 中 n d+z 完全耦合，不能用来证明多参数可辨识，只能用来演示锁相数学。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锁相信号的比例系数依赖调制幅值、参考相位、采样窗口和归一化约定，必须实验标定。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多层膜逆问题仍可能有多解；dI/dz 是增加约束，不是保证唯一解。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若材料 n,k 自由度过高，联合观测可能被材料参数吸收，反而降低膜厚反演稳定性。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B6249-AB0A-4FC1-848E-1DEFA2A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在当前 TMM/StackRT forward model 上增加一个 z_surface 或参考腔长度参数，明确它对应真实光路中的哪一段 OPD。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生成仿真数据集：同一组膜厚和材料参数下，输出 I(lambda)、中心差分 dI/dz(lambda)、以及不同 A 和噪声水平下的模拟锁相信号。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用 least_squares 做小规模可辨识性验证，再扩展到 Residual MLP/CNN 输入通道。</a:t>
            </a:r>
          </a:p>
          <a:p xmlns:a="http://schemas.openxmlformats.org/drawingml/2006/main">
            <a:pPr algn="l">
              <a:defRPr sz="1500" b="0">
                <a:solidFill>
                  <a:srgbClr val="262626"/>
                </a:solidFill>
              </a:defRPr>
            </a:pPr>
            <a:r>
              <a:rPr sz="1500" b="0">
                <a:solidFill>
                  <a:srgbClr val="262626"/>
                </a:solidFill>
              </a:rPr>
              <a:t>报告中把研究贡献表述为“通过主动高度调制改变测量可观测性”，而不是“用更复杂网络拟合原始光谱”。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CD878-3B0A-4263-BBC5-6F018447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007A"/>
                </a:solidFill>
              </a:defRPr>
            </a:pPr>
            <a:r>
              <a:rPr sz="1500" b="1">
                <a:solidFill>
                  <a:srgbClr val="6F007A"/>
                </a:solidFill>
              </a:rPr>
              <a:t>dI/dz is an added constraint, not a guarantee of uniqueness; validate the forward model before training larger inverse models.</a:t>
            </a:r>
          </a:p>
        </p:txBody>
      </p:sp>
    </p:spTree>
    <p:extLst>
      <p:ext uri="{BB962C8B-B14F-4D97-AF65-F5344CB8AC3E}">
        <p14:creationId xmlns:p14="http://schemas.microsoft.com/office/powerpoint/2010/main" val="83989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2026-07-08T04:37:12.2640000Z</dcterms:created>
  <dcterms:modified xsi:type="dcterms:W3CDTF">2026-07-08T04:37:12.2640000Z</dcterms:modified>
</coreProperties>
</file>